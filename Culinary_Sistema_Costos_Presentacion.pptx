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3152" y="0"/>
            <a:ext cx="12115800" cy="6858000"/>
          </a:xfrm>
          <a:prstGeom prst="rect">
            <a:avLst/>
          </a:prstGeom>
          <a:solidFill>
            <a:srgbClr val="1616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601200" y="182880"/>
            <a:ext cx="73152" cy="731520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0058400" y="1005840"/>
            <a:ext cx="73152" cy="731520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0515600" y="548640"/>
            <a:ext cx="73152" cy="731520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0972800" y="1371600"/>
            <a:ext cx="73152" cy="731520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430000" y="822960"/>
            <a:ext cx="73152" cy="731520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0789920" y="2103120"/>
            <a:ext cx="73152" cy="731520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9875520" y="2560320"/>
            <a:ext cx="73152" cy="731520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" y="118872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9CA3AF"/>
                </a:solidFill>
                <a:latin typeface="Calibri"/>
              </a:rPr>
              <a:t>INSTITUTO CULINARY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1691640"/>
            <a:ext cx="5029200" cy="27432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182880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600" b="1" i="0">
                <a:solidFill>
                  <a:srgbClr val="FFFFFF"/>
                </a:solidFill>
                <a:latin typeface="Calibri"/>
              </a:rPr>
              <a:t>SISTEMA DE COSTOS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260604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600" b="1" i="0">
                <a:solidFill>
                  <a:srgbClr val="FBBF24"/>
                </a:solidFill>
                <a:latin typeface="Calibri"/>
              </a:rPr>
              <a:t>GASTRONÓMICOS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352044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9CA3AF"/>
                </a:solidFill>
                <a:latin typeface="Calibri"/>
              </a:rPr>
              <a:t>Gestión de costos de materia prima · Sede Santiago · Período 2026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4023360"/>
            <a:ext cx="5029200" cy="27432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7200" y="420624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CA3AF"/>
                </a:solidFill>
                <a:latin typeface="Calibri"/>
              </a:rPr>
              <a:t>Junio 2026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452628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CA3AF"/>
                </a:solidFill>
                <a:latin typeface="Calibri"/>
              </a:rPr>
              <a:t>Versión 1.0 — Uso Interno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74320" y="6537960"/>
            <a:ext cx="11640312" cy="27432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6583680"/>
            <a:ext cx="9144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9CA3AF"/>
                </a:solidFill>
                <a:latin typeface="Calibri"/>
              </a:rPr>
              <a:t>Instituto Culinary · Sistema de Costos Gastronómicos ·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9224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9CA3AF"/>
                </a:solidFill>
                <a:latin typeface="Calibri"/>
              </a:rPr>
              <a:t>2 / 13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27432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BBF24"/>
                </a:solidFill>
                <a:latin typeface="Calibri"/>
              </a:rPr>
              <a:t>CONTENIDO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59436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Calibri"/>
              </a:rPr>
              <a:t>Agenda de la presentación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097280"/>
            <a:ext cx="4572000" cy="27432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128016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BBF24"/>
                </a:solidFill>
                <a:latin typeface="Calibri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132588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>Contexto y necesidad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1938528"/>
            <a:ext cx="5303520" cy="27432"/>
          </a:xfrm>
          <a:prstGeom prst="rect">
            <a:avLst/>
          </a:prstGeom>
          <a:solidFill>
            <a:srgbClr val="2E2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" y="2148839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BBF24"/>
                </a:solidFill>
                <a:latin typeface="Calibri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" y="2194559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>La solución: el sistema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2807207"/>
            <a:ext cx="5303520" cy="27432"/>
          </a:xfrm>
          <a:prstGeom prst="rect">
            <a:avLst/>
          </a:prstGeom>
          <a:solidFill>
            <a:srgbClr val="2E2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" y="301752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BBF24"/>
                </a:solidFill>
                <a:latin typeface="Calibri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05840" y="3063239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>Arquitectura técnica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3675887"/>
            <a:ext cx="5303520" cy="27432"/>
          </a:xfrm>
          <a:prstGeom prst="rect">
            <a:avLst/>
          </a:prstGeom>
          <a:solidFill>
            <a:srgbClr val="2E2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" y="388620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BBF24"/>
                </a:solidFill>
                <a:latin typeface="Calibri"/>
              </a:rPr>
              <a:t>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05840" y="393192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>Datos del período 2026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4544568"/>
            <a:ext cx="5303520" cy="27432"/>
          </a:xfrm>
          <a:prstGeom prst="rect">
            <a:avLst/>
          </a:prstGeom>
          <a:solidFill>
            <a:srgbClr val="2E2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7200" y="4754879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BBF24"/>
                </a:solidFill>
                <a:latin typeface="Calibri"/>
              </a:rPr>
              <a:t>05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05840" y="4800599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>Dashboard y KPIs principales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7200" y="5413247"/>
            <a:ext cx="5303520" cy="27432"/>
          </a:xfrm>
          <a:prstGeom prst="rect">
            <a:avLst/>
          </a:prstGeom>
          <a:solidFill>
            <a:srgbClr val="2E2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309360" y="128016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BBF24"/>
                </a:solidFill>
                <a:latin typeface="Calibri"/>
              </a:rPr>
              <a:t>06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58000" y="132588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>Análisis de costos por categoría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309360" y="1938528"/>
            <a:ext cx="5577840" cy="27432"/>
          </a:xfrm>
          <a:prstGeom prst="rect">
            <a:avLst/>
          </a:prstGeom>
          <a:solidFill>
            <a:srgbClr val="2E2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309360" y="2148839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BBF24"/>
                </a:solidFill>
                <a:latin typeface="Calibri"/>
              </a:rPr>
              <a:t>07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58000" y="2194559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>Costos por tipo de taller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309360" y="2807207"/>
            <a:ext cx="5577840" cy="27432"/>
          </a:xfrm>
          <a:prstGeom prst="rect">
            <a:avLst/>
          </a:prstGeom>
          <a:solidFill>
            <a:srgbClr val="2E2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309360" y="301752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BBF24"/>
                </a:solidFill>
                <a:latin typeface="Calibri"/>
              </a:rPr>
              <a:t>08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858000" y="3063239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>Hallazgos y observaciones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309360" y="3675887"/>
            <a:ext cx="5577840" cy="27432"/>
          </a:xfrm>
          <a:prstGeom prst="rect">
            <a:avLst/>
          </a:prstGeom>
          <a:solidFill>
            <a:srgbClr val="2E2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309360" y="388620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BBF24"/>
                </a:solidFill>
                <a:latin typeface="Calibri"/>
              </a:rPr>
              <a:t>09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858000" y="393192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>Próximos pasos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309360" y="4544568"/>
            <a:ext cx="5577840" cy="27432"/>
          </a:xfrm>
          <a:prstGeom prst="rect">
            <a:avLst/>
          </a:prstGeom>
          <a:solidFill>
            <a:srgbClr val="2E2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74320" y="6537960"/>
            <a:ext cx="11640312" cy="27432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6583680"/>
            <a:ext cx="9144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9CA3AF"/>
                </a:solidFill>
                <a:latin typeface="Calibri"/>
              </a:rPr>
              <a:t>Instituto Culinary · Sistema de Costos Gastronómicos ·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9224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9CA3AF"/>
                </a:solidFill>
                <a:latin typeface="Calibri"/>
              </a:rPr>
              <a:t>3 / 13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2743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BBF24"/>
                </a:solidFill>
                <a:latin typeface="Calibri"/>
              </a:rPr>
              <a:t>01 · CONTEXTO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59436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Problema y necesidad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097280"/>
            <a:ext cx="4572000" cy="27432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" y="1371600"/>
            <a:ext cx="5486400" cy="2103120"/>
          </a:xfrm>
          <a:prstGeom prst="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7200" y="1371600"/>
            <a:ext cx="45720" cy="2103120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150876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BBF24"/>
                </a:solidFill>
                <a:latin typeface="Calibri"/>
              </a:rPr>
              <a:t>Falta de visibilidad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1920240"/>
            <a:ext cx="5029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Los costos de materia prima se manejaban en planillas Excel sin integración ni historial.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309360" y="1371600"/>
            <a:ext cx="5486400" cy="2103120"/>
          </a:xfrm>
          <a:prstGeom prst="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309360" y="1371600"/>
            <a:ext cx="45720" cy="2103120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92240" y="150876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BBF24"/>
                </a:solidFill>
                <a:latin typeface="Calibri"/>
              </a:rPr>
              <a:t>Cálculos manuales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92240" y="1920240"/>
            <a:ext cx="5029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Cada taller calculaba sus costos de forma independiente, sin una metodología unificada.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3749039"/>
            <a:ext cx="5486400" cy="2103120"/>
          </a:xfrm>
          <a:prstGeom prst="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57200" y="3749039"/>
            <a:ext cx="45720" cy="2103120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" y="388620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BBF24"/>
                </a:solidFill>
                <a:latin typeface="Calibri"/>
              </a:rPr>
              <a:t>Sin trazabilidad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4297679"/>
            <a:ext cx="5029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Era imposible comparar costos entre talleres, secciones o períodos de tiempo.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309360" y="3749039"/>
            <a:ext cx="5486400" cy="2103120"/>
          </a:xfrm>
          <a:prstGeom prst="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309360" y="3749039"/>
            <a:ext cx="45720" cy="2103120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92240" y="388620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BBF24"/>
                </a:solidFill>
                <a:latin typeface="Calibri"/>
              </a:rPr>
              <a:t>Toma de decisiones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92240" y="4297679"/>
            <a:ext cx="5029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La falta de datos precisos dificultaba la planificación presupuestaria y la gestión académica.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74320" y="6537960"/>
            <a:ext cx="11640312" cy="27432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6583680"/>
            <a:ext cx="9144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9CA3AF"/>
                </a:solidFill>
                <a:latin typeface="Calibri"/>
              </a:rPr>
              <a:t>Instituto Culinary · Sistema de Costos Gastronómicos ·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9224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9CA3AF"/>
                </a:solidFill>
                <a:latin typeface="Calibri"/>
              </a:rPr>
              <a:t>4 / 13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2743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BBF24"/>
                </a:solidFill>
                <a:latin typeface="Calibri"/>
              </a:rPr>
              <a:t>02 · LA SOLUCIÓN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59436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Sistema de Costos Gastronómicos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097280"/>
            <a:ext cx="4572000" cy="27432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1280160"/>
            <a:ext cx="11430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9CA3AF"/>
                </a:solidFill>
                <a:latin typeface="Calibri"/>
              </a:rPr>
              <a:t>Una plataforma web centralizada que permite gestionar, visualizar y analizar los costos de materia prima
de todos los talleres culinarios del Instituto, en tiempo real y con datos históricos.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2286000"/>
            <a:ext cx="3566160" cy="1828800"/>
          </a:xfrm>
          <a:prstGeom prst="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94360" y="242316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FFFFFF"/>
                </a:solidFill>
                <a:latin typeface="Calibri"/>
              </a:rPr>
              <a:t>📊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34440" y="2395728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Dashboard
Interactivo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3108960"/>
            <a:ext cx="32918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CA3AF"/>
                </a:solidFill>
                <a:latin typeface="Calibri"/>
              </a:rPr>
              <a:t>KPIs, gráficos y filtros por taller, mes y semana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297680" y="2286000"/>
            <a:ext cx="3566160" cy="1828800"/>
          </a:xfrm>
          <a:prstGeom prst="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434840" y="242316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FFFFFF"/>
                </a:solidFill>
                <a:latin typeface="Calibri"/>
              </a:rPr>
              <a:t>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74920" y="2395728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Maestro de
Ingredientes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34840" y="3108960"/>
            <a:ext cx="32918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CA3AF"/>
                </a:solidFill>
                <a:latin typeface="Calibri"/>
              </a:rPr>
              <a:t>613 ingredientes con precio, unidad y categoría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138160" y="2286000"/>
            <a:ext cx="3566160" cy="1828800"/>
          </a:xfrm>
          <a:prstGeom prst="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75320" y="242316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FFFFFF"/>
                </a:solidFill>
                <a:latin typeface="Calibri"/>
              </a:rPr>
              <a:t>📋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915400" y="2395728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Gestión de
OPs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75320" y="3108960"/>
            <a:ext cx="32918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CA3AF"/>
                </a:solidFill>
                <a:latin typeface="Calibri"/>
              </a:rPr>
              <a:t>Registro de recetas por orden de producto con costo automático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7200" y="4389120"/>
            <a:ext cx="3566160" cy="1828800"/>
          </a:xfrm>
          <a:prstGeom prst="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94360" y="452628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FFFFFF"/>
                </a:solidFill>
                <a:latin typeface="Calibri"/>
              </a:rPr>
              <a:t>📚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234440" y="4498848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Carreras y
Semestres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94360" y="5212080"/>
            <a:ext cx="32918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CA3AF"/>
                </a:solidFill>
                <a:latin typeface="Calibri"/>
              </a:rPr>
              <a:t>Estructura académica con asignación de talleres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297680" y="4389120"/>
            <a:ext cx="3566160" cy="1828800"/>
          </a:xfrm>
          <a:prstGeom prst="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434840" y="452628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FFFFFF"/>
                </a:solidFill>
                <a:latin typeface="Calibri"/>
              </a:rPr>
              <a:t>🛒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074920" y="4498848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Lista de
Compras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434840" y="5212080"/>
            <a:ext cx="32918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CA3AF"/>
                </a:solidFill>
                <a:latin typeface="Calibri"/>
              </a:rPr>
              <a:t>Alertas de stock bajo y necesidades de reposición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138160" y="4389120"/>
            <a:ext cx="3566160" cy="1828800"/>
          </a:xfrm>
          <a:prstGeom prst="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275320" y="452628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FFFFFF"/>
                </a:solidFill>
                <a:latin typeface="Calibri"/>
              </a:rPr>
              <a:t>📈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915400" y="4498848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Informes
Exportables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275320" y="5212080"/>
            <a:ext cx="32918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CA3AF"/>
                </a:solidFill>
                <a:latin typeface="Calibri"/>
              </a:rPr>
              <a:t>PDF, Excel, plantillas de importación masiva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74320" y="6537960"/>
            <a:ext cx="11640312" cy="27432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6583680"/>
            <a:ext cx="9144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9CA3AF"/>
                </a:solidFill>
                <a:latin typeface="Calibri"/>
              </a:rPr>
              <a:t>Instituto Culinary · Sistema de Costos Gastronómicos ·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9224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9CA3AF"/>
                </a:solidFill>
                <a:latin typeface="Calibri"/>
              </a:rPr>
              <a:t>5 / 13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2743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BBF24"/>
                </a:solidFill>
                <a:latin typeface="Calibri"/>
              </a:rPr>
              <a:t>03 · ARQUITECTURA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59436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Stack tecnológico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097280"/>
            <a:ext cx="4572000" cy="27432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" y="1371600"/>
            <a:ext cx="3657600" cy="5029200"/>
          </a:xfrm>
          <a:prstGeom prst="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7200" y="1371600"/>
            <a:ext cx="3657600" cy="4572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1508760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38BDF8"/>
                </a:solidFill>
                <a:latin typeface="Calibri"/>
              </a:rPr>
              <a:t>FRONTEND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1874519"/>
            <a:ext cx="3291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index.html (Single Page App)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" y="2331720"/>
            <a:ext cx="3108960" cy="27432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2514600"/>
            <a:ext cx="329184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CA3AF"/>
                </a:solidFill>
                <a:latin typeface="Calibri"/>
              </a:rPr>
              <a:t>• Vanilla JS + Chart.js + SheetJS
• Sin frameworks, cero dependencias externas
• Desplegado en PythonAnywhere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343400" y="1371600"/>
            <a:ext cx="3657600" cy="5029200"/>
          </a:xfrm>
          <a:prstGeom prst="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343400" y="1371600"/>
            <a:ext cx="3657600" cy="4572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26280" y="1508760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22C55E"/>
                </a:solidFill>
                <a:latin typeface="Calibri"/>
              </a:rPr>
              <a:t>BACKEND / API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26280" y="1874519"/>
            <a:ext cx="3291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Supabase PostgREST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26280" y="2331720"/>
            <a:ext cx="3108960" cy="27432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26280" y="2514600"/>
            <a:ext cx="329184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CA3AF"/>
                </a:solidFill>
                <a:latin typeface="Calibri"/>
              </a:rPr>
              <a:t>• REST API automática desde PostgreSQL
• Autenticación con anon key
• Vistas SQL para cálculos complejos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229600" y="1371600"/>
            <a:ext cx="3657600" cy="5029200"/>
          </a:xfrm>
          <a:prstGeom prst="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229600" y="1371600"/>
            <a:ext cx="3657600" cy="45720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412480" y="1508760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BBF24"/>
                </a:solidFill>
                <a:latin typeface="Calibri"/>
              </a:rPr>
              <a:t>BASE DE DATOS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412480" y="1874519"/>
            <a:ext cx="3291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PostgreSQL (Supabase)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412480" y="2331720"/>
            <a:ext cx="3108960" cy="27432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412480" y="2514600"/>
            <a:ext cx="329184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CA3AF"/>
                </a:solidFill>
                <a:latin typeface="Calibri"/>
              </a:rPr>
              <a:t>• 12 tablas + 6 vistas calculadas
• Triggers para historial de precios
• Funciones para costeo automático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133087" y="3566160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BBF24"/>
                </a:solidFill>
                <a:latin typeface="Calibri"/>
              </a:rPr>
              <a:t>→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019288" y="3566160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BBF24"/>
                </a:solidFill>
                <a:latin typeface="Calibri"/>
              </a:rPr>
              <a:t>→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7200" y="644652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9CA3AF"/>
                </a:solidFill>
                <a:latin typeface="Calibri"/>
              </a:rPr>
              <a:t>💻 Navegador del usuario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343400" y="644652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9CA3AF"/>
                </a:solidFill>
                <a:latin typeface="Calibri"/>
              </a:rPr>
              <a:t>☁️ Cloud API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229600" y="644652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9CA3AF"/>
                </a:solidFill>
                <a:latin typeface="Calibri"/>
              </a:rPr>
              <a:t>🗄️ Cloud Database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74320" y="6537960"/>
            <a:ext cx="11640312" cy="27432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6583680"/>
            <a:ext cx="9144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9CA3AF"/>
                </a:solidFill>
                <a:latin typeface="Calibri"/>
              </a:rPr>
              <a:t>Instituto Culinary · Sistema de Costos Gastronómicos ·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9224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9CA3AF"/>
                </a:solidFill>
                <a:latin typeface="Calibri"/>
              </a:rPr>
              <a:t>6 / 13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27432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BBF24"/>
                </a:solidFill>
                <a:latin typeface="Calibri"/>
              </a:rPr>
              <a:t>04 · DATOS DEL PERÍODO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59436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Carga real — Sede Santiago 2026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097280"/>
            <a:ext cx="4572000" cy="27432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" y="1371600"/>
            <a:ext cx="3657600" cy="2103120"/>
          </a:xfrm>
          <a:prstGeom prst="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7200" y="1371600"/>
            <a:ext cx="3657600" cy="36576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1481328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CA3AF"/>
                </a:solidFill>
                <a:latin typeface="Calibri"/>
              </a:rPr>
              <a:t>Ingredientes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1755648"/>
            <a:ext cx="3474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BBF24"/>
                </a:solidFill>
                <a:latin typeface="Calibri"/>
              </a:rPr>
              <a:t>613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2212848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CA3AF"/>
                </a:solidFill>
                <a:latin typeface="Calibri"/>
              </a:rPr>
              <a:t>en maestro con precio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343400" y="1371600"/>
            <a:ext cx="3657600" cy="2103120"/>
          </a:xfrm>
          <a:prstGeom prst="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343400" y="1371600"/>
            <a:ext cx="3657600" cy="36576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434840" y="1481328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CA3AF"/>
                </a:solidFill>
                <a:latin typeface="Calibri"/>
              </a:rPr>
              <a:t>Proveedores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34840" y="1755648"/>
            <a:ext cx="3474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38BDF8"/>
                </a:solidFill>
                <a:latin typeface="Calibri"/>
              </a:rPr>
              <a:t>22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34840" y="2212848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CA3AF"/>
                </a:solidFill>
                <a:latin typeface="Calibri"/>
              </a:rPr>
              <a:t>activos registrados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229600" y="1371600"/>
            <a:ext cx="3657600" cy="2103120"/>
          </a:xfrm>
          <a:prstGeom prst="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229600" y="1371600"/>
            <a:ext cx="3657600" cy="36576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321040" y="1481328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CA3AF"/>
                </a:solidFill>
                <a:latin typeface="Calibri"/>
              </a:rPr>
              <a:t>Tipos de Taller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21040" y="1755648"/>
            <a:ext cx="3474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22C55E"/>
                </a:solidFill>
                <a:latin typeface="Calibri"/>
              </a:rPr>
              <a:t>14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21040" y="2212848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CA3AF"/>
                </a:solidFill>
                <a:latin typeface="Calibri"/>
              </a:rPr>
              <a:t>especializaciones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57200" y="3749039"/>
            <a:ext cx="3657600" cy="2103120"/>
          </a:xfrm>
          <a:prstGeom prst="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57200" y="3749039"/>
            <a:ext cx="3657600" cy="36576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48640" y="3858768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CA3AF"/>
                </a:solidFill>
                <a:latin typeface="Calibri"/>
              </a:rPr>
              <a:t>OPs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8640" y="4133087"/>
            <a:ext cx="3474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BBF24"/>
                </a:solidFill>
                <a:latin typeface="Calibri"/>
              </a:rPr>
              <a:t>179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48640" y="4590288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CA3AF"/>
                </a:solidFill>
                <a:latin typeface="Calibri"/>
              </a:rPr>
              <a:t>órdenes de producto únicas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343400" y="3749039"/>
            <a:ext cx="3657600" cy="2103120"/>
          </a:xfrm>
          <a:prstGeom prst="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4343400" y="3749039"/>
            <a:ext cx="3657600" cy="36576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434840" y="3858768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CA3AF"/>
                </a:solidFill>
                <a:latin typeface="Calibri"/>
              </a:rPr>
              <a:t>Registros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434840" y="4133087"/>
            <a:ext cx="3474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38BDF8"/>
                </a:solidFill>
                <a:latin typeface="Calibri"/>
              </a:rPr>
              <a:t>23.213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434840" y="4590288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CA3AF"/>
                </a:solidFill>
                <a:latin typeface="Calibri"/>
              </a:rPr>
              <a:t>ingrediente × sesión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229600" y="3749039"/>
            <a:ext cx="3657600" cy="2103120"/>
          </a:xfrm>
          <a:prstGeom prst="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8229600" y="3749039"/>
            <a:ext cx="3657600" cy="36576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321040" y="3858768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CA3AF"/>
                </a:solidFill>
                <a:latin typeface="Calibri"/>
              </a:rPr>
              <a:t>Semanas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321040" y="4133087"/>
            <a:ext cx="3474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22C55E"/>
                </a:solidFill>
                <a:latin typeface="Calibri"/>
              </a:rPr>
              <a:t>44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321040" y="4590288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CA3AF"/>
                </a:solidFill>
                <a:latin typeface="Calibri"/>
              </a:rPr>
              <a:t>calendario 2026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74320" y="6537960"/>
            <a:ext cx="11640312" cy="27432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6583680"/>
            <a:ext cx="9144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9CA3AF"/>
                </a:solidFill>
                <a:latin typeface="Calibri"/>
              </a:rPr>
              <a:t>Instituto Culinary · Sistema de Costos Gastronómicos ·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9224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9CA3AF"/>
                </a:solidFill>
                <a:latin typeface="Calibri"/>
              </a:rPr>
              <a:t>7 / 13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2743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BBF24"/>
                </a:solidFill>
                <a:latin typeface="Calibri"/>
              </a:rPr>
              <a:t>05 · DASHBOARD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59436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KPIs principales del sistema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097280"/>
            <a:ext cx="4572000" cy="27432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" y="1371600"/>
            <a:ext cx="5669280" cy="2743200"/>
          </a:xfrm>
          <a:prstGeom prst="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7200" y="1371600"/>
            <a:ext cx="5669280" cy="64008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155448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9CA3AF"/>
                </a:solidFill>
                <a:latin typeface="Calibri"/>
              </a:rPr>
              <a:t>GASTO TOTAL MATERIA PRIMA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1965960"/>
            <a:ext cx="53035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 i="0">
                <a:solidFill>
                  <a:srgbClr val="FBBF24"/>
                </a:solidFill>
                <a:latin typeface="Calibri"/>
              </a:rPr>
              <a:t>$7.075.872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2926080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CA3AF"/>
                </a:solidFill>
                <a:latin typeface="Calibri"/>
              </a:rPr>
              <a:t>Período marzo → diciembre 2026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0" y="1371600"/>
            <a:ext cx="5303520" cy="1280160"/>
          </a:xfrm>
          <a:prstGeom prst="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400800" y="1371600"/>
            <a:ext cx="5303520" cy="36576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83680" y="1554480"/>
            <a:ext cx="2743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38BDF8"/>
                </a:solidFill>
                <a:latin typeface="Calibri"/>
              </a:rPr>
              <a:t>$328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0" y="2148840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CA3AF"/>
                </a:solidFill>
                <a:latin typeface="Calibri"/>
              </a:rPr>
              <a:t>Costo promedio por alumno / sesión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400800" y="2788920"/>
            <a:ext cx="5303520" cy="1280160"/>
          </a:xfrm>
          <a:prstGeom prst="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400800" y="2788920"/>
            <a:ext cx="5303520" cy="36576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83680" y="2971800"/>
            <a:ext cx="2743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22C55E"/>
                </a:solidFill>
                <a:latin typeface="Calibri"/>
              </a:rPr>
              <a:t>1.067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83680" y="3566160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CA3AF"/>
                </a:solidFill>
                <a:latin typeface="Calibri"/>
              </a:rPr>
              <a:t>Total alumnos matriculados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400800" y="4206240"/>
            <a:ext cx="5303520" cy="1280160"/>
          </a:xfrm>
          <a:prstGeom prst="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400800" y="4206240"/>
            <a:ext cx="5303520" cy="36576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583680" y="4389120"/>
            <a:ext cx="2743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BBF24"/>
                </a:solidFill>
                <a:latin typeface="Calibri"/>
              </a:rPr>
              <a:t>9 de 14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83680" y="4983479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CA3AF"/>
                </a:solidFill>
                <a:latin typeface="Calibri"/>
              </a:rPr>
              <a:t>Talleres con recetas cargadas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57200" y="4297680"/>
            <a:ext cx="11430000" cy="2286000"/>
          </a:xfrm>
          <a:prstGeom prst="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0080" y="443484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9CA3AF"/>
                </a:solidFill>
                <a:latin typeface="Calibri"/>
              </a:rPr>
              <a:t>DISTRIBUCIÓN MENSUAL DE GASTO ($)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31520" y="5240527"/>
            <a:ext cx="1005839" cy="1023112"/>
          </a:xfrm>
          <a:prstGeom prst="rect">
            <a:avLst/>
          </a:prstGeom>
          <a:solidFill>
            <a:srgbClr val="7850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31520" y="6309360"/>
            <a:ext cx="10515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9CA3AF"/>
                </a:solidFill>
                <a:latin typeface="Calibri"/>
              </a:rPr>
              <a:t>Mar</a:t>
            </a:r>
          </a:p>
        </p:txBody>
      </p:sp>
      <p:sp>
        <p:nvSpPr>
          <p:cNvPr id="31" name="Rectangle 30"/>
          <p:cNvSpPr/>
          <p:nvPr/>
        </p:nvSpPr>
        <p:spPr>
          <a:xfrm>
            <a:off x="1783080" y="5289970"/>
            <a:ext cx="1005839" cy="973669"/>
          </a:xfrm>
          <a:prstGeom prst="rect">
            <a:avLst/>
          </a:prstGeom>
          <a:solidFill>
            <a:srgbClr val="7850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783080" y="6309360"/>
            <a:ext cx="10515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9CA3AF"/>
                </a:solidFill>
                <a:latin typeface="Calibri"/>
              </a:rPr>
              <a:t>Abr</a:t>
            </a:r>
          </a:p>
        </p:txBody>
      </p:sp>
      <p:sp>
        <p:nvSpPr>
          <p:cNvPr id="33" name="Rectangle 32"/>
          <p:cNvSpPr/>
          <p:nvPr/>
        </p:nvSpPr>
        <p:spPr>
          <a:xfrm>
            <a:off x="2834639" y="5074920"/>
            <a:ext cx="1005839" cy="1188720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2834639" y="6309360"/>
            <a:ext cx="10515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9CA3AF"/>
                </a:solidFill>
                <a:latin typeface="Calibri"/>
              </a:rPr>
              <a:t>May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886200" y="5178057"/>
            <a:ext cx="1005839" cy="1085582"/>
          </a:xfrm>
          <a:prstGeom prst="rect">
            <a:avLst/>
          </a:prstGeom>
          <a:solidFill>
            <a:srgbClr val="7850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886200" y="6309360"/>
            <a:ext cx="10515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9CA3AF"/>
                </a:solidFill>
                <a:latin typeface="Calibri"/>
              </a:rPr>
              <a:t>Jun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937759" y="5912000"/>
            <a:ext cx="1005839" cy="351639"/>
          </a:xfrm>
          <a:prstGeom prst="rect">
            <a:avLst/>
          </a:prstGeom>
          <a:solidFill>
            <a:srgbClr val="7850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937759" y="6309360"/>
            <a:ext cx="10515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9CA3AF"/>
                </a:solidFill>
                <a:latin typeface="Calibri"/>
              </a:rPr>
              <a:t>Jul</a:t>
            </a:r>
          </a:p>
        </p:txBody>
      </p:sp>
      <p:sp>
        <p:nvSpPr>
          <p:cNvPr id="39" name="Rectangle 38"/>
          <p:cNvSpPr/>
          <p:nvPr/>
        </p:nvSpPr>
        <p:spPr>
          <a:xfrm>
            <a:off x="5989320" y="5731021"/>
            <a:ext cx="1005839" cy="532618"/>
          </a:xfrm>
          <a:prstGeom prst="rect">
            <a:avLst/>
          </a:prstGeom>
          <a:solidFill>
            <a:srgbClr val="7850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989320" y="6309360"/>
            <a:ext cx="10515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9CA3AF"/>
                </a:solidFill>
                <a:latin typeface="Calibri"/>
              </a:rPr>
              <a:t>Ago</a:t>
            </a:r>
          </a:p>
        </p:txBody>
      </p:sp>
      <p:sp>
        <p:nvSpPr>
          <p:cNvPr id="41" name="Rectangle 40"/>
          <p:cNvSpPr/>
          <p:nvPr/>
        </p:nvSpPr>
        <p:spPr>
          <a:xfrm>
            <a:off x="7040879" y="5665438"/>
            <a:ext cx="1005839" cy="598201"/>
          </a:xfrm>
          <a:prstGeom prst="rect">
            <a:avLst/>
          </a:prstGeom>
          <a:solidFill>
            <a:srgbClr val="7850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7040879" y="6309360"/>
            <a:ext cx="10515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9CA3AF"/>
                </a:solidFill>
                <a:latin typeface="Calibri"/>
              </a:rPr>
              <a:t>Sep</a:t>
            </a:r>
          </a:p>
        </p:txBody>
      </p:sp>
      <p:sp>
        <p:nvSpPr>
          <p:cNvPr id="43" name="Rectangle 42"/>
          <p:cNvSpPr/>
          <p:nvPr/>
        </p:nvSpPr>
        <p:spPr>
          <a:xfrm>
            <a:off x="8092440" y="5801436"/>
            <a:ext cx="1005839" cy="462203"/>
          </a:xfrm>
          <a:prstGeom prst="rect">
            <a:avLst/>
          </a:prstGeom>
          <a:solidFill>
            <a:srgbClr val="7850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092440" y="6309360"/>
            <a:ext cx="10515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9CA3AF"/>
                </a:solidFill>
                <a:latin typeface="Calibri"/>
              </a:rPr>
              <a:t>Oct</a:t>
            </a:r>
          </a:p>
        </p:txBody>
      </p:sp>
      <p:sp>
        <p:nvSpPr>
          <p:cNvPr id="45" name="Rectangle 44"/>
          <p:cNvSpPr/>
          <p:nvPr/>
        </p:nvSpPr>
        <p:spPr>
          <a:xfrm>
            <a:off x="9144000" y="5670394"/>
            <a:ext cx="1005839" cy="593245"/>
          </a:xfrm>
          <a:prstGeom prst="rect">
            <a:avLst/>
          </a:prstGeom>
          <a:solidFill>
            <a:srgbClr val="7850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9144000" y="6309360"/>
            <a:ext cx="10515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9CA3AF"/>
                </a:solidFill>
                <a:latin typeface="Calibri"/>
              </a:rPr>
              <a:t>Nov</a:t>
            </a:r>
          </a:p>
        </p:txBody>
      </p:sp>
      <p:sp>
        <p:nvSpPr>
          <p:cNvPr id="47" name="Rectangle 46"/>
          <p:cNvSpPr/>
          <p:nvPr/>
        </p:nvSpPr>
        <p:spPr>
          <a:xfrm>
            <a:off x="10195560" y="5936513"/>
            <a:ext cx="1005839" cy="327126"/>
          </a:xfrm>
          <a:prstGeom prst="rect">
            <a:avLst/>
          </a:prstGeom>
          <a:solidFill>
            <a:srgbClr val="7850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10195560" y="6309360"/>
            <a:ext cx="10515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9CA3AF"/>
                </a:solidFill>
                <a:latin typeface="Calibri"/>
              </a:rPr>
              <a:t>Dic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74320" y="6537960"/>
            <a:ext cx="11640312" cy="27432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6583680"/>
            <a:ext cx="9144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9CA3AF"/>
                </a:solidFill>
                <a:latin typeface="Calibri"/>
              </a:rPr>
              <a:t>Instituto Culinary · Sistema de Costos Gastronómicos ·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9224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9CA3AF"/>
                </a:solidFill>
                <a:latin typeface="Calibri"/>
              </a:rPr>
              <a:t>8 / 13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27432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BBF24"/>
                </a:solidFill>
                <a:latin typeface="Calibri"/>
              </a:rPr>
              <a:t>06 · ANÁLISIS DE COSTOS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59436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Gasto por categoría de ingrediente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097280"/>
            <a:ext cx="4572000" cy="27432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114800" y="1353312"/>
            <a:ext cx="6949440" cy="320040"/>
          </a:xfrm>
          <a:prstGeom prst="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114800" y="1353312"/>
            <a:ext cx="1978118" cy="32004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" y="128016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ABARROTE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155680" y="128016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FBBF24"/>
                </a:solidFill>
                <a:latin typeface="Calibri"/>
              </a:rPr>
              <a:t>$2.040.961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60520" y="128016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CA3AF"/>
                </a:solidFill>
                <a:latin typeface="Calibri"/>
              </a:rPr>
              <a:t>28.8%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114800" y="1874519"/>
            <a:ext cx="6949440" cy="320040"/>
          </a:xfrm>
          <a:prstGeom prst="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114800" y="1874519"/>
            <a:ext cx="1203371" cy="32004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7200" y="1801367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LACTEO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55680" y="1801367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FBBF24"/>
                </a:solidFill>
                <a:latin typeface="Calibri"/>
              </a:rPr>
              <a:t>$1.241.601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60520" y="1801367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CA3AF"/>
                </a:solidFill>
                <a:latin typeface="Calibri"/>
              </a:rPr>
              <a:t>17.5%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114800" y="2395728"/>
            <a:ext cx="6949440" cy="320040"/>
          </a:xfrm>
          <a:prstGeom prst="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114800" y="2395728"/>
            <a:ext cx="799058" cy="32004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7200" y="2322576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CHOCOLATE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155680" y="2322576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FBBF24"/>
                </a:solidFill>
                <a:latin typeface="Calibri"/>
              </a:rPr>
              <a:t>$824.444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160520" y="2322576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CA3AF"/>
                </a:solidFill>
                <a:latin typeface="Calibri"/>
              </a:rPr>
              <a:t>11.7%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114800" y="2916936"/>
            <a:ext cx="6949440" cy="320040"/>
          </a:xfrm>
          <a:prstGeom prst="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114800" y="2916936"/>
            <a:ext cx="684189" cy="32004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57200" y="2843784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FRUTA VERDURA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155680" y="2843784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FBBF24"/>
                </a:solidFill>
                <a:latin typeface="Calibri"/>
              </a:rPr>
              <a:t>$705.926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160520" y="2843784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CA3AF"/>
                </a:solidFill>
                <a:latin typeface="Calibri"/>
              </a:rPr>
              <a:t>10.0%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114800" y="3438144"/>
            <a:ext cx="6949440" cy="320040"/>
          </a:xfrm>
          <a:prstGeom prst="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4114800" y="3438144"/>
            <a:ext cx="377893" cy="32004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57200" y="3364991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PESCADO MARISCO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155680" y="3364991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FBBF24"/>
                </a:solidFill>
                <a:latin typeface="Calibri"/>
              </a:rPr>
              <a:t>$389.899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160520" y="3364991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CA3AF"/>
                </a:solidFill>
                <a:latin typeface="Calibri"/>
              </a:rPr>
              <a:t>5.5%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114800" y="3959352"/>
            <a:ext cx="6949440" cy="320040"/>
          </a:xfrm>
          <a:prstGeom prst="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4114800" y="3959352"/>
            <a:ext cx="335868" cy="32004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57200" y="388620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VACUNO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155680" y="38862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FBBF24"/>
                </a:solidFill>
                <a:latin typeface="Calibri"/>
              </a:rPr>
              <a:t>$346.539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160520" y="388620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CA3AF"/>
                </a:solidFill>
                <a:latin typeface="Calibri"/>
              </a:rPr>
              <a:t>4.9%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114800" y="4480560"/>
            <a:ext cx="6949440" cy="320040"/>
          </a:xfrm>
          <a:prstGeom prst="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4114800" y="4480560"/>
            <a:ext cx="322349" cy="320040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57200" y="4407408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HUEVO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1155680" y="4407408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FBBF24"/>
                </a:solidFill>
                <a:latin typeface="Calibri"/>
              </a:rPr>
              <a:t>$332.590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160520" y="4407408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CA3AF"/>
                </a:solidFill>
                <a:latin typeface="Calibri"/>
              </a:rPr>
              <a:t>4.7%</a:t>
            </a:r>
          </a:p>
        </p:txBody>
      </p:sp>
      <p:sp>
        <p:nvSpPr>
          <p:cNvPr id="45" name="Rectangle 44"/>
          <p:cNvSpPr/>
          <p:nvPr/>
        </p:nvSpPr>
        <p:spPr>
          <a:xfrm>
            <a:off x="4114800" y="5001768"/>
            <a:ext cx="6949440" cy="320040"/>
          </a:xfrm>
          <a:prstGeom prst="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4114800" y="5001768"/>
            <a:ext cx="294051" cy="320040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57200" y="4928616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CONGELADO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1155680" y="4928616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FBBF24"/>
                </a:solidFill>
                <a:latin typeface="Calibri"/>
              </a:rPr>
              <a:t>$303.393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160520" y="4928616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CA3AF"/>
                </a:solidFill>
                <a:latin typeface="Calibri"/>
              </a:rPr>
              <a:t>4.3%</a:t>
            </a:r>
          </a:p>
        </p:txBody>
      </p:sp>
      <p:sp>
        <p:nvSpPr>
          <p:cNvPr id="50" name="Rectangle 49"/>
          <p:cNvSpPr/>
          <p:nvPr/>
        </p:nvSpPr>
        <p:spPr>
          <a:xfrm>
            <a:off x="4114800" y="5522975"/>
            <a:ext cx="6949440" cy="320040"/>
          </a:xfrm>
          <a:prstGeom prst="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4114800" y="5522975"/>
            <a:ext cx="265308" cy="32004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457200" y="5449823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ART. COCINA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1155680" y="5449823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FBBF24"/>
                </a:solidFill>
                <a:latin typeface="Calibri"/>
              </a:rPr>
              <a:t>$273.737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4160520" y="5449823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CA3AF"/>
                </a:solidFill>
                <a:latin typeface="Calibri"/>
              </a:rPr>
              <a:t>3.9%</a:t>
            </a:r>
          </a:p>
        </p:txBody>
      </p:sp>
      <p:sp>
        <p:nvSpPr>
          <p:cNvPr id="55" name="Rectangle 54"/>
          <p:cNvSpPr/>
          <p:nvPr/>
        </p:nvSpPr>
        <p:spPr>
          <a:xfrm>
            <a:off x="4114800" y="6044183"/>
            <a:ext cx="6949440" cy="320040"/>
          </a:xfrm>
          <a:prstGeom prst="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4114800" y="6044183"/>
            <a:ext cx="598271" cy="320040"/>
          </a:xfrm>
          <a:prstGeom prst="rect">
            <a:avLst/>
          </a:prstGeom>
          <a:solidFill>
            <a:srgbClr val="6B72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457200" y="5971031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RESTO (25 cat.)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11155680" y="5971031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FBBF24"/>
                </a:solidFill>
                <a:latin typeface="Calibri"/>
              </a:rPr>
              <a:t>$617.278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4160520" y="5971031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CA3AF"/>
                </a:solidFill>
                <a:latin typeface="Calibri"/>
              </a:rPr>
              <a:t>8.7%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74320" y="6537960"/>
            <a:ext cx="11640312" cy="27432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6583680"/>
            <a:ext cx="9144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9CA3AF"/>
                </a:solidFill>
                <a:latin typeface="Calibri"/>
              </a:rPr>
              <a:t>Instituto Culinary · Sistema de Costos Gastronómicos ·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9224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9CA3AF"/>
                </a:solidFill>
                <a:latin typeface="Calibri"/>
              </a:rPr>
              <a:t>9 / 13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27432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BBF24"/>
                </a:solidFill>
                <a:latin typeface="Calibri"/>
              </a:rPr>
              <a:t>07 · ANÁLISIS POR TALLER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59436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Costo total y costo por alumno según tipo de taller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097280"/>
            <a:ext cx="4572000" cy="27432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" y="128016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9CA3AF"/>
                </a:solidFill>
                <a:latin typeface="Calibri"/>
              </a:rPr>
              <a:t>TALLER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128016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9CA3AF"/>
                </a:solidFill>
                <a:latin typeface="Calibri"/>
              </a:rPr>
              <a:t>COSTO TOTAL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0" y="128016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9CA3AF"/>
                </a:solidFill>
                <a:latin typeface="Calibri"/>
              </a:rPr>
              <a:t>SESIONES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241280" y="1280160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 i="0">
                <a:solidFill>
                  <a:srgbClr val="9CA3AF"/>
                </a:solidFill>
                <a:latin typeface="Calibri"/>
              </a:rPr>
              <a:t>CPA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463040" y="1755648"/>
            <a:ext cx="6858000" cy="274320"/>
          </a:xfrm>
          <a:prstGeom prst="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463040" y="1755648"/>
            <a:ext cx="6858000" cy="274320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5760" y="1645920"/>
            <a:ext cx="1005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BBF24"/>
                </a:solidFill>
                <a:latin typeface="Calibri"/>
              </a:rPr>
              <a:t>TIP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5760" y="1901952"/>
            <a:ext cx="10058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9CA3AF"/>
                </a:solidFill>
                <a:latin typeface="Calibri"/>
              </a:rPr>
              <a:t>Introductorio Pastelería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08760" y="164592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$1.119.984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86800" y="164592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9CA3AF"/>
                </a:solidFill>
                <a:latin typeface="Calibri"/>
              </a:rPr>
              <a:t>140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241280" y="1645920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 i="0">
                <a:solidFill>
                  <a:srgbClr val="FBBF24"/>
                </a:solidFill>
                <a:latin typeface="Calibri"/>
              </a:rPr>
              <a:t>$471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463040" y="2286000"/>
            <a:ext cx="6858000" cy="274320"/>
          </a:xfrm>
          <a:prstGeom prst="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1463040" y="2286000"/>
            <a:ext cx="6503638" cy="274320"/>
          </a:xfrm>
          <a:prstGeom prst="rect">
            <a:avLst/>
          </a:prstGeom>
          <a:solidFill>
            <a:srgbClr val="7850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65760" y="2176272"/>
            <a:ext cx="1005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BBF24"/>
                </a:solidFill>
                <a:latin typeface="Calibri"/>
              </a:rPr>
              <a:t>TBD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65760" y="2432304"/>
            <a:ext cx="10058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9CA3AF"/>
                </a:solidFill>
                <a:latin typeface="Calibri"/>
              </a:rPr>
              <a:t>Banquetería Dulce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508760" y="2176272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$1.062.113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686800" y="2176272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9CA3AF"/>
                </a:solidFill>
                <a:latin typeface="Calibri"/>
              </a:rPr>
              <a:t>64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241280" y="2176272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 i="0">
                <a:solidFill>
                  <a:srgbClr val="EF4444"/>
                </a:solidFill>
                <a:latin typeface="Calibri"/>
              </a:rPr>
              <a:t>$909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463040" y="2816352"/>
            <a:ext cx="6858000" cy="274320"/>
          </a:xfrm>
          <a:prstGeom prst="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1463040" y="2816352"/>
            <a:ext cx="5976140" cy="274320"/>
          </a:xfrm>
          <a:prstGeom prst="rect">
            <a:avLst/>
          </a:prstGeom>
          <a:solidFill>
            <a:srgbClr val="7850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65760" y="2706624"/>
            <a:ext cx="1005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BBF24"/>
                </a:solidFill>
                <a:latin typeface="Calibri"/>
              </a:rPr>
              <a:t>TCCHO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65760" y="2962656"/>
            <a:ext cx="10058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9CA3AF"/>
                </a:solidFill>
                <a:latin typeface="Calibri"/>
              </a:rPr>
              <a:t>Confitería y Chocolatería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508760" y="2706624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$975.967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686800" y="2706624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9CA3AF"/>
                </a:solidFill>
                <a:latin typeface="Calibri"/>
              </a:rPr>
              <a:t>64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241280" y="2706624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 i="0">
                <a:solidFill>
                  <a:srgbClr val="FBBF24"/>
                </a:solidFill>
                <a:latin typeface="Calibri"/>
              </a:rPr>
              <a:t>$744</a:t>
            </a:r>
          </a:p>
        </p:txBody>
      </p:sp>
      <p:sp>
        <p:nvSpPr>
          <p:cNvPr id="35" name="Rectangle 34"/>
          <p:cNvSpPr/>
          <p:nvPr/>
        </p:nvSpPr>
        <p:spPr>
          <a:xfrm>
            <a:off x="1463040" y="3346704"/>
            <a:ext cx="6858000" cy="274320"/>
          </a:xfrm>
          <a:prstGeom prst="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1463040" y="3346704"/>
            <a:ext cx="5520395" cy="274320"/>
          </a:xfrm>
          <a:prstGeom prst="rect">
            <a:avLst/>
          </a:prstGeom>
          <a:solidFill>
            <a:srgbClr val="7850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65760" y="3236976"/>
            <a:ext cx="1005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BBF24"/>
                </a:solidFill>
                <a:latin typeface="Calibri"/>
              </a:rPr>
              <a:t>TCCM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65760" y="3493008"/>
            <a:ext cx="10058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9CA3AF"/>
                </a:solidFill>
                <a:latin typeface="Calibri"/>
              </a:rPr>
              <a:t>Cocina Chilena y del Mundo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508760" y="3236976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$901.539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686800" y="3236976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9CA3AF"/>
                </a:solidFill>
                <a:latin typeface="Calibri"/>
              </a:rPr>
              <a:t>100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241280" y="3236976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 i="0">
                <a:solidFill>
                  <a:srgbClr val="FBBF24"/>
                </a:solidFill>
                <a:latin typeface="Calibri"/>
              </a:rPr>
              <a:t>$440</a:t>
            </a:r>
          </a:p>
        </p:txBody>
      </p:sp>
      <p:sp>
        <p:nvSpPr>
          <p:cNvPr id="42" name="Rectangle 41"/>
          <p:cNvSpPr/>
          <p:nvPr/>
        </p:nvSpPr>
        <p:spPr>
          <a:xfrm>
            <a:off x="1463040" y="3877056"/>
            <a:ext cx="6858000" cy="274320"/>
          </a:xfrm>
          <a:prstGeom prst="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1463040" y="3877056"/>
            <a:ext cx="4604998" cy="274320"/>
          </a:xfrm>
          <a:prstGeom prst="rect">
            <a:avLst/>
          </a:prstGeom>
          <a:solidFill>
            <a:srgbClr val="7850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365760" y="3767328"/>
            <a:ext cx="1005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BBF24"/>
                </a:solidFill>
                <a:latin typeface="Calibri"/>
              </a:rPr>
              <a:t>TTPIP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65760" y="4023360"/>
            <a:ext cx="10058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9CA3AF"/>
                </a:solidFill>
                <a:latin typeface="Calibri"/>
              </a:rPr>
              <a:t>Técnicas Innovadoras Past.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508760" y="3767328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$752.045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686800" y="3767328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9CA3AF"/>
                </a:solidFill>
                <a:latin typeface="Calibri"/>
              </a:rPr>
              <a:t>40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0241280" y="3767328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 i="0">
                <a:solidFill>
                  <a:srgbClr val="EF4444"/>
                </a:solidFill>
                <a:latin typeface="Calibri"/>
              </a:rPr>
              <a:t>$1.106</a:t>
            </a:r>
          </a:p>
        </p:txBody>
      </p:sp>
      <p:sp>
        <p:nvSpPr>
          <p:cNvPr id="49" name="Rectangle 48"/>
          <p:cNvSpPr/>
          <p:nvPr/>
        </p:nvSpPr>
        <p:spPr>
          <a:xfrm>
            <a:off x="1463040" y="4407408"/>
            <a:ext cx="6858000" cy="274320"/>
          </a:xfrm>
          <a:prstGeom prst="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1463040" y="4407408"/>
            <a:ext cx="4431996" cy="274320"/>
          </a:xfrm>
          <a:prstGeom prst="rect">
            <a:avLst/>
          </a:prstGeom>
          <a:solidFill>
            <a:srgbClr val="7850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365760" y="4297680"/>
            <a:ext cx="1005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BBF24"/>
                </a:solidFill>
                <a:latin typeface="Calibri"/>
              </a:rPr>
              <a:t>TIC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365760" y="4553712"/>
            <a:ext cx="10058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9CA3AF"/>
                </a:solidFill>
                <a:latin typeface="Calibri"/>
              </a:rPr>
              <a:t>Introductorio Cocina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508760" y="429768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$723.792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8686800" y="429768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9CA3AF"/>
                </a:solidFill>
                <a:latin typeface="Calibri"/>
              </a:rPr>
              <a:t>155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0241280" y="4297680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 i="0">
                <a:solidFill>
                  <a:srgbClr val="22C55E"/>
                </a:solidFill>
                <a:latin typeface="Calibri"/>
              </a:rPr>
              <a:t>$275</a:t>
            </a:r>
          </a:p>
        </p:txBody>
      </p:sp>
      <p:sp>
        <p:nvSpPr>
          <p:cNvPr id="56" name="Rectangle 55"/>
          <p:cNvSpPr/>
          <p:nvPr/>
        </p:nvSpPr>
        <p:spPr>
          <a:xfrm>
            <a:off x="1463040" y="4937759"/>
            <a:ext cx="6858000" cy="274320"/>
          </a:xfrm>
          <a:prstGeom prst="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1463040" y="4937759"/>
            <a:ext cx="4028624" cy="274320"/>
          </a:xfrm>
          <a:prstGeom prst="rect">
            <a:avLst/>
          </a:prstGeom>
          <a:solidFill>
            <a:srgbClr val="7850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365760" y="4828031"/>
            <a:ext cx="1005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BBF24"/>
                </a:solidFill>
                <a:latin typeface="Calibri"/>
              </a:rPr>
              <a:t>TBS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365760" y="5084064"/>
            <a:ext cx="10058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9CA3AF"/>
                </a:solidFill>
                <a:latin typeface="Calibri"/>
              </a:rPr>
              <a:t>Banquetería Salada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1508760" y="4828031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$657.917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8686800" y="4828031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9CA3AF"/>
                </a:solidFill>
                <a:latin typeface="Calibri"/>
              </a:rPr>
              <a:t>96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10241280" y="4828031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 i="0">
                <a:solidFill>
                  <a:srgbClr val="22C55E"/>
                </a:solidFill>
                <a:latin typeface="Calibri"/>
              </a:rPr>
              <a:t>$376</a:t>
            </a:r>
          </a:p>
        </p:txBody>
      </p:sp>
      <p:sp>
        <p:nvSpPr>
          <p:cNvPr id="63" name="Rectangle 62"/>
          <p:cNvSpPr/>
          <p:nvPr/>
        </p:nvSpPr>
        <p:spPr>
          <a:xfrm>
            <a:off x="1463040" y="5468112"/>
            <a:ext cx="6858000" cy="274320"/>
          </a:xfrm>
          <a:prstGeom prst="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1463040" y="5468112"/>
            <a:ext cx="2977694" cy="274320"/>
          </a:xfrm>
          <a:prstGeom prst="rect">
            <a:avLst/>
          </a:prstGeom>
          <a:solidFill>
            <a:srgbClr val="7850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365760" y="5358383"/>
            <a:ext cx="1005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BBF24"/>
                </a:solidFill>
                <a:latin typeface="Calibri"/>
              </a:rPr>
              <a:t>TTPIC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365760" y="5614416"/>
            <a:ext cx="10058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9CA3AF"/>
                </a:solidFill>
                <a:latin typeface="Calibri"/>
              </a:rPr>
              <a:t>Técnicas Innovadoras Cocina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1508760" y="5358383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$486.289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8686800" y="5358383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9CA3AF"/>
                </a:solidFill>
                <a:latin typeface="Calibri"/>
              </a:rPr>
              <a:t>40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10241280" y="5358383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 i="0">
                <a:solidFill>
                  <a:srgbClr val="FBBF24"/>
                </a:solidFill>
                <a:latin typeface="Calibri"/>
              </a:rPr>
              <a:t>$715</a:t>
            </a:r>
          </a:p>
        </p:txBody>
      </p:sp>
      <p:sp>
        <p:nvSpPr>
          <p:cNvPr id="70" name="Rectangle 69"/>
          <p:cNvSpPr/>
          <p:nvPr/>
        </p:nvSpPr>
        <p:spPr>
          <a:xfrm>
            <a:off x="1463040" y="5998464"/>
            <a:ext cx="6858000" cy="274320"/>
          </a:xfrm>
          <a:prstGeom prst="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1463040" y="5998464"/>
            <a:ext cx="2426205" cy="274320"/>
          </a:xfrm>
          <a:prstGeom prst="rect">
            <a:avLst/>
          </a:prstGeom>
          <a:solidFill>
            <a:srgbClr val="7850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365760" y="5888736"/>
            <a:ext cx="1005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BBF24"/>
                </a:solidFill>
                <a:latin typeface="Calibri"/>
              </a:rPr>
              <a:t>TPE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365760" y="6144768"/>
            <a:ext cx="10058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9CA3AF"/>
                </a:solidFill>
                <a:latin typeface="Calibri"/>
              </a:rPr>
              <a:t>Panadería Especialidad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1508760" y="5888736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$396.225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8686800" y="5888736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9CA3AF"/>
                </a:solidFill>
                <a:latin typeface="Calibri"/>
              </a:rPr>
              <a:t>76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10241280" y="5888736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 i="0">
                <a:solidFill>
                  <a:srgbClr val="22C55E"/>
                </a:solidFill>
                <a:latin typeface="Calibri"/>
              </a:rPr>
              <a:t>$254</a:t>
            </a:r>
          </a:p>
        </p:txBody>
      </p:sp>
      <p:sp>
        <p:nvSpPr>
          <p:cNvPr id="77" name="Rectangle 76"/>
          <p:cNvSpPr/>
          <p:nvPr/>
        </p:nvSpPr>
        <p:spPr>
          <a:xfrm>
            <a:off x="365760" y="6400800"/>
            <a:ext cx="11430000" cy="27432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365760" y="644652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CA3AF"/>
                </a:solidFill>
                <a:latin typeface="Calibri"/>
              </a:rPr>
              <a:t>🟢 CPA &lt; $400  🟡 CPA $400–$900  🔴 CPA &gt; $900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74320" y="6537960"/>
            <a:ext cx="11640312" cy="27432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6583680"/>
            <a:ext cx="9144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9CA3AF"/>
                </a:solidFill>
                <a:latin typeface="Calibri"/>
              </a:rPr>
              <a:t>Instituto Culinary · Sistema de Costos Gastronómicos ·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9224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9CA3AF"/>
                </a:solidFill>
                <a:latin typeface="Calibri"/>
              </a:rPr>
              <a:t>10 / 13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27432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BBF24"/>
                </a:solidFill>
                <a:latin typeface="Calibri"/>
              </a:rPr>
              <a:t>07 · ANÁLISIS POR TALLER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59436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Top 5 sesiones con mayor costo total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097280"/>
            <a:ext cx="4572000" cy="27432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" y="1371600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9CA3AF"/>
                </a:solidFill>
                <a:latin typeface="Calibri"/>
              </a:rPr>
              <a:t/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13716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9CA3AF"/>
                </a:solidFill>
                <a:latin typeface="Calibri"/>
              </a:rPr>
              <a:t>Código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286000" y="1371600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9CA3AF"/>
                </a:solidFill>
                <a:latin typeface="Calibri"/>
              </a:rPr>
              <a:t>Taller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14800" y="1371600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9CA3AF"/>
                </a:solidFill>
                <a:latin typeface="Calibri"/>
              </a:rPr>
              <a:t>Fecha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0" y="1371600"/>
            <a:ext cx="1554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9CA3AF"/>
                </a:solidFill>
                <a:latin typeface="Calibri"/>
              </a:rPr>
              <a:t>Alumnos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589520" y="137160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9CA3AF"/>
                </a:solidFill>
                <a:latin typeface="Calibri"/>
              </a:rPr>
              <a:t>Costo Total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241280" y="137160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9CA3AF"/>
                </a:solidFill>
                <a:latin typeface="Calibri"/>
              </a:rPr>
              <a:t>CPA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65760" y="1737360"/>
            <a:ext cx="11430000" cy="27432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65760" y="1874520"/>
            <a:ext cx="11430000" cy="804672"/>
          </a:xfrm>
          <a:prstGeom prst="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65760" y="1920240"/>
            <a:ext cx="365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FFFFFF"/>
                </a:solidFill>
                <a:latin typeface="Calibri"/>
              </a:rPr>
              <a:t>🥇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" y="1920240"/>
            <a:ext cx="1371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TTPICSES3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286000" y="1920240"/>
            <a:ext cx="1737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BBF24"/>
                </a:solidFill>
                <a:latin typeface="Calibri"/>
              </a:rPr>
              <a:t>TTPIC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114800" y="1920240"/>
            <a:ext cx="1737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CA3AF"/>
                </a:solidFill>
                <a:latin typeface="Calibri"/>
              </a:rPr>
              <a:t>2026-05-05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943600" y="1920240"/>
            <a:ext cx="1554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</a:rPr>
              <a:t>16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589520" y="192024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EF4444"/>
                </a:solidFill>
                <a:latin typeface="Calibri"/>
              </a:rPr>
              <a:t>$27.846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241280" y="1920240"/>
            <a:ext cx="1645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BBF24"/>
                </a:solidFill>
                <a:latin typeface="Calibri"/>
              </a:rPr>
              <a:t>$1.740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65760" y="2788920"/>
            <a:ext cx="365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FFFFFF"/>
                </a:solidFill>
                <a:latin typeface="Calibri"/>
              </a:rPr>
              <a:t>🥈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2960" y="2788920"/>
            <a:ext cx="1371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TTPICSES3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286000" y="2788920"/>
            <a:ext cx="1737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9CA3AF"/>
                </a:solidFill>
                <a:latin typeface="Calibri"/>
              </a:rPr>
              <a:t>TTPIC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114800" y="2788920"/>
            <a:ext cx="1737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CA3AF"/>
                </a:solidFill>
                <a:latin typeface="Calibri"/>
              </a:rPr>
              <a:t>2026-03-10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943600" y="2788920"/>
            <a:ext cx="1554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</a:rPr>
              <a:t>16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589520" y="278892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EF4444"/>
                </a:solidFill>
                <a:latin typeface="Calibri"/>
              </a:rPr>
              <a:t>$27.846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241280" y="2788920"/>
            <a:ext cx="1645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BBF24"/>
                </a:solidFill>
                <a:latin typeface="Calibri"/>
              </a:rPr>
              <a:t>$1.740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65760" y="3611880"/>
            <a:ext cx="11430000" cy="804672"/>
          </a:xfrm>
          <a:prstGeom prst="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65760" y="3657600"/>
            <a:ext cx="365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FFFFFF"/>
                </a:solidFill>
                <a:latin typeface="Calibri"/>
              </a:rPr>
              <a:t>🥉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22960" y="3657600"/>
            <a:ext cx="1371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TTPICSES3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286000" y="3657600"/>
            <a:ext cx="1737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CD7F32"/>
                </a:solidFill>
                <a:latin typeface="Calibri"/>
              </a:rPr>
              <a:t>TTPIC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114800" y="3657600"/>
            <a:ext cx="1737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CA3AF"/>
                </a:solidFill>
                <a:latin typeface="Calibri"/>
              </a:rPr>
              <a:t>2026-05-05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943600" y="3657600"/>
            <a:ext cx="1554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</a:rPr>
              <a:t>19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589520" y="365760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EF4444"/>
                </a:solidFill>
                <a:latin typeface="Calibri"/>
              </a:rPr>
              <a:t>$27.846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241280" y="3657600"/>
            <a:ext cx="1645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BBF24"/>
                </a:solidFill>
                <a:latin typeface="Calibri"/>
              </a:rPr>
              <a:t>$1.466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65760" y="4526279"/>
            <a:ext cx="365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FFFFFF"/>
                </a:solidFill>
                <a:latin typeface="Calibri"/>
              </a:rPr>
              <a:t>4°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22960" y="4526279"/>
            <a:ext cx="1371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TTPICSES3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286000" y="4526279"/>
            <a:ext cx="1737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9CA3AF"/>
                </a:solidFill>
                <a:latin typeface="Calibri"/>
              </a:rPr>
              <a:t>TTPIC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114800" y="4526279"/>
            <a:ext cx="1737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CA3AF"/>
                </a:solidFill>
                <a:latin typeface="Calibri"/>
              </a:rPr>
              <a:t>2026-03-10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943600" y="4526279"/>
            <a:ext cx="1554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</a:rPr>
              <a:t>19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589520" y="4526279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EF4444"/>
                </a:solidFill>
                <a:latin typeface="Calibri"/>
              </a:rPr>
              <a:t>$27.846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0241280" y="4526279"/>
            <a:ext cx="1645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BBF24"/>
                </a:solidFill>
                <a:latin typeface="Calibri"/>
              </a:rPr>
              <a:t>$1.466</a:t>
            </a:r>
          </a:p>
        </p:txBody>
      </p:sp>
      <p:sp>
        <p:nvSpPr>
          <p:cNvPr id="48" name="Rectangle 47"/>
          <p:cNvSpPr/>
          <p:nvPr/>
        </p:nvSpPr>
        <p:spPr>
          <a:xfrm>
            <a:off x="365760" y="5349240"/>
            <a:ext cx="11430000" cy="804672"/>
          </a:xfrm>
          <a:prstGeom prst="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365760" y="5394960"/>
            <a:ext cx="365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FFFFFF"/>
                </a:solidFill>
                <a:latin typeface="Calibri"/>
              </a:rPr>
              <a:t>5°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22960" y="5394960"/>
            <a:ext cx="1371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TBSSES12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2286000" y="5394960"/>
            <a:ext cx="1737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9CA3AF"/>
                </a:solidFill>
                <a:latin typeface="Calibri"/>
              </a:rPr>
              <a:t>TBS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114800" y="5394960"/>
            <a:ext cx="1737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CA3AF"/>
                </a:solidFill>
                <a:latin typeface="Calibri"/>
              </a:rPr>
              <a:t>2026-07-07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943600" y="5394960"/>
            <a:ext cx="1554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</a:rPr>
              <a:t>18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7589520" y="539496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EF4444"/>
                </a:solidFill>
                <a:latin typeface="Calibri"/>
              </a:rPr>
              <a:t>$23.311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0241280" y="5394960"/>
            <a:ext cx="1645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BBF24"/>
                </a:solidFill>
                <a:latin typeface="Calibri"/>
              </a:rPr>
              <a:t>$1.295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365760" y="630936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CA3AF"/>
                </a:solidFill>
                <a:latin typeface="Calibri"/>
              </a:rPr>
              <a:t>Nota: TTPIC (Técnicas y Procesos Innovadores en Cocina) concentra las sesiones de mayor costo por su uso de ingredientes especializados.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74320" y="6537960"/>
            <a:ext cx="11640312" cy="27432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6583680"/>
            <a:ext cx="9144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9CA3AF"/>
                </a:solidFill>
                <a:latin typeface="Calibri"/>
              </a:rPr>
              <a:t>Instituto Culinary · Sistema de Costos Gastronómicos ·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9224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9CA3AF"/>
                </a:solidFill>
                <a:latin typeface="Calibri"/>
              </a:rPr>
              <a:t>11 / 13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27432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BBF24"/>
                </a:solidFill>
                <a:latin typeface="Calibri"/>
              </a:rPr>
              <a:t>06 · ANÁLISIS DE COSTOS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59436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Top 10 ingredientes por gasto acumulado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097280"/>
            <a:ext cx="4572000" cy="27432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206240" y="1463040"/>
            <a:ext cx="6492240" cy="274320"/>
          </a:xfrm>
          <a:prstGeom prst="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206240" y="1463040"/>
            <a:ext cx="6400800" cy="274320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5760" y="137160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 1. MANTEQUILLA SIN SAL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1645920"/>
            <a:ext cx="3657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9CA3AF"/>
                </a:solidFill>
                <a:latin typeface="Calibri"/>
              </a:rPr>
              <a:t>LACTEO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698480" y="1371600"/>
            <a:ext cx="1280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FBBF24"/>
                </a:solidFill>
                <a:latin typeface="Calibri"/>
              </a:rPr>
              <a:t>$341.058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206240" y="1965960"/>
            <a:ext cx="6492240" cy="274320"/>
          </a:xfrm>
          <a:prstGeom prst="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206240" y="1965960"/>
            <a:ext cx="5082647" cy="274320"/>
          </a:xfrm>
          <a:prstGeom prst="rect">
            <a:avLst/>
          </a:prstGeom>
          <a:solidFill>
            <a:srgbClr val="7850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65760" y="1874519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 2. CHOCOLATE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760" y="2148839"/>
            <a:ext cx="3657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9CA3AF"/>
                </a:solidFill>
                <a:latin typeface="Calibri"/>
              </a:rPr>
              <a:t>CHOCOLATE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98480" y="1874519"/>
            <a:ext cx="1280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FBBF24"/>
                </a:solidFill>
                <a:latin typeface="Calibri"/>
              </a:rPr>
              <a:t>$270.822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206240" y="2468880"/>
            <a:ext cx="6492240" cy="274320"/>
          </a:xfrm>
          <a:prstGeom prst="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206240" y="2468880"/>
            <a:ext cx="4780040" cy="274320"/>
          </a:xfrm>
          <a:prstGeom prst="rect">
            <a:avLst/>
          </a:prstGeom>
          <a:solidFill>
            <a:srgbClr val="7850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65760" y="237744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 3. CREMA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5760" y="2651760"/>
            <a:ext cx="3657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9CA3AF"/>
                </a:solidFill>
                <a:latin typeface="Calibri"/>
              </a:rPr>
              <a:t>LACTEO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698480" y="2377440"/>
            <a:ext cx="1280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FBBF24"/>
                </a:solidFill>
                <a:latin typeface="Calibri"/>
              </a:rPr>
              <a:t>$254.698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206240" y="2971800"/>
            <a:ext cx="6492240" cy="274320"/>
          </a:xfrm>
          <a:prstGeom prst="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206240" y="2971800"/>
            <a:ext cx="4712008" cy="274320"/>
          </a:xfrm>
          <a:prstGeom prst="rect">
            <a:avLst/>
          </a:prstGeom>
          <a:solidFill>
            <a:srgbClr val="7850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65760" y="288036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 4. HUEVO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65760" y="3154680"/>
            <a:ext cx="3657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9CA3AF"/>
                </a:solidFill>
                <a:latin typeface="Calibri"/>
              </a:rPr>
              <a:t>HUEVO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698480" y="2880360"/>
            <a:ext cx="1280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FBBF24"/>
                </a:solidFill>
                <a:latin typeface="Calibri"/>
              </a:rPr>
              <a:t>$251.073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206240" y="3474720"/>
            <a:ext cx="6492240" cy="274320"/>
          </a:xfrm>
          <a:prstGeom prst="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4206240" y="3474720"/>
            <a:ext cx="4256727" cy="274320"/>
          </a:xfrm>
          <a:prstGeom prst="rect">
            <a:avLst/>
          </a:prstGeom>
          <a:solidFill>
            <a:srgbClr val="7850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65760" y="338328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 5. LECHE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65760" y="3657600"/>
            <a:ext cx="3657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9CA3AF"/>
                </a:solidFill>
                <a:latin typeface="Calibri"/>
              </a:rPr>
              <a:t>LACTEO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698480" y="3383280"/>
            <a:ext cx="1280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FBBF24"/>
                </a:solidFill>
                <a:latin typeface="Calibri"/>
              </a:rPr>
              <a:t>$226.814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206240" y="3977639"/>
            <a:ext cx="6492240" cy="274320"/>
          </a:xfrm>
          <a:prstGeom prst="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4206240" y="3977639"/>
            <a:ext cx="3667766" cy="274320"/>
          </a:xfrm>
          <a:prstGeom prst="rect">
            <a:avLst/>
          </a:prstGeom>
          <a:solidFill>
            <a:srgbClr val="7850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65760" y="388620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 6. HARINA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65760" y="4160520"/>
            <a:ext cx="3657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9CA3AF"/>
                </a:solidFill>
                <a:latin typeface="Calibri"/>
              </a:rPr>
              <a:t>ABARROTE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698480" y="3886200"/>
            <a:ext cx="1280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FBBF24"/>
                </a:solidFill>
                <a:latin typeface="Calibri"/>
              </a:rPr>
              <a:t>$195.432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206240" y="4480560"/>
            <a:ext cx="6492240" cy="274320"/>
          </a:xfrm>
          <a:prstGeom prst="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4206240" y="4480560"/>
            <a:ext cx="3515918" cy="274320"/>
          </a:xfrm>
          <a:prstGeom prst="rect">
            <a:avLst/>
          </a:prstGeom>
          <a:solidFill>
            <a:srgbClr val="7850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365760" y="438912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 7. AZUCAR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65760" y="4663440"/>
            <a:ext cx="3657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9CA3AF"/>
                </a:solidFill>
                <a:latin typeface="Calibri"/>
              </a:rPr>
              <a:t>ABARROTE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698480" y="4389120"/>
            <a:ext cx="1280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FBBF24"/>
                </a:solidFill>
                <a:latin typeface="Calibri"/>
              </a:rPr>
              <a:t>$187.341</a:t>
            </a:r>
          </a:p>
        </p:txBody>
      </p:sp>
      <p:sp>
        <p:nvSpPr>
          <p:cNvPr id="45" name="Rectangle 44"/>
          <p:cNvSpPr/>
          <p:nvPr/>
        </p:nvSpPr>
        <p:spPr>
          <a:xfrm>
            <a:off x="4206240" y="4983480"/>
            <a:ext cx="6492240" cy="274320"/>
          </a:xfrm>
          <a:prstGeom prst="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4206240" y="4983480"/>
            <a:ext cx="3057035" cy="274320"/>
          </a:xfrm>
          <a:prstGeom prst="rect">
            <a:avLst/>
          </a:prstGeom>
          <a:solidFill>
            <a:srgbClr val="7850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365760" y="489204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 8. VACUNO LOMO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365760" y="5166360"/>
            <a:ext cx="3657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9CA3AF"/>
                </a:solidFill>
                <a:latin typeface="Calibri"/>
              </a:rPr>
              <a:t>VACUNO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0698480" y="4892040"/>
            <a:ext cx="1280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FBBF24"/>
                </a:solidFill>
                <a:latin typeface="Calibri"/>
              </a:rPr>
              <a:t>$162.890</a:t>
            </a:r>
          </a:p>
        </p:txBody>
      </p:sp>
      <p:sp>
        <p:nvSpPr>
          <p:cNvPr id="50" name="Rectangle 49"/>
          <p:cNvSpPr/>
          <p:nvPr/>
        </p:nvSpPr>
        <p:spPr>
          <a:xfrm>
            <a:off x="4206240" y="5486400"/>
            <a:ext cx="6492240" cy="274320"/>
          </a:xfrm>
          <a:prstGeom prst="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4206240" y="5486400"/>
            <a:ext cx="2687522" cy="274320"/>
          </a:xfrm>
          <a:prstGeom prst="rect">
            <a:avLst/>
          </a:prstGeom>
          <a:solidFill>
            <a:srgbClr val="7850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365760" y="539496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 9. SALMON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365760" y="5669280"/>
            <a:ext cx="3657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9CA3AF"/>
                </a:solidFill>
                <a:latin typeface="Calibri"/>
              </a:rPr>
              <a:t>PESCADO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0698480" y="5394960"/>
            <a:ext cx="1280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FBBF24"/>
                </a:solidFill>
                <a:latin typeface="Calibri"/>
              </a:rPr>
              <a:t>$143.201</a:t>
            </a:r>
          </a:p>
        </p:txBody>
      </p:sp>
      <p:sp>
        <p:nvSpPr>
          <p:cNvPr id="55" name="Rectangle 54"/>
          <p:cNvSpPr/>
          <p:nvPr/>
        </p:nvSpPr>
        <p:spPr>
          <a:xfrm>
            <a:off x="4206240" y="5989320"/>
            <a:ext cx="6492240" cy="274320"/>
          </a:xfrm>
          <a:prstGeom prst="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4206240" y="5989320"/>
            <a:ext cx="2604269" cy="274320"/>
          </a:xfrm>
          <a:prstGeom prst="rect">
            <a:avLst/>
          </a:prstGeom>
          <a:solidFill>
            <a:srgbClr val="7850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365760" y="589788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10. COUVERTURE OSCURO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365760" y="6172200"/>
            <a:ext cx="3657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9CA3AF"/>
                </a:solidFill>
                <a:latin typeface="Calibri"/>
              </a:rPr>
              <a:t>CHOCOLATE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10698480" y="5897880"/>
            <a:ext cx="1280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FBBF24"/>
                </a:solidFill>
                <a:latin typeface="Calibri"/>
              </a:rPr>
              <a:t>$138.765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365760" y="6492240"/>
            <a:ext cx="9144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9CA3AF"/>
                </a:solidFill>
                <a:latin typeface="Calibri"/>
              </a:rPr>
              <a:t>* Montos basados en precios convertidos a unidad base (kg/L/un)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74320" y="6537960"/>
            <a:ext cx="11640312" cy="27432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6583680"/>
            <a:ext cx="9144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9CA3AF"/>
                </a:solidFill>
                <a:latin typeface="Calibri"/>
              </a:rPr>
              <a:t>Instituto Culinary · Sistema de Costos Gastronómicos ·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9224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9CA3AF"/>
                </a:solidFill>
                <a:latin typeface="Calibri"/>
              </a:rPr>
              <a:t>12 / 13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2743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BBF24"/>
                </a:solidFill>
                <a:latin typeface="Calibri"/>
              </a:rPr>
              <a:t>08 · HALLAZGOS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59436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Observaciones y conclusiones del análisis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097280"/>
            <a:ext cx="4572000" cy="27432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" y="1371600"/>
            <a:ext cx="5486400" cy="2194560"/>
          </a:xfrm>
          <a:prstGeom prst="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7200" y="1371600"/>
            <a:ext cx="5486400" cy="36576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1508760"/>
            <a:ext cx="5120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2C55E"/>
                </a:solidFill>
                <a:latin typeface="Calibri"/>
              </a:rPr>
              <a:t>✅  Costo promedio razonable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1993392"/>
            <a:ext cx="512064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CA3AF"/>
                </a:solidFill>
                <a:latin typeface="Calibri"/>
              </a:rPr>
              <a:t>El CPA promedio de $328 por sesión es consistente con los estándares de formación culinaria. El modelo de costeo "por sección" (no por alumno) coincide con el criterio del Excel original.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309360" y="1371600"/>
            <a:ext cx="5486400" cy="2194560"/>
          </a:xfrm>
          <a:prstGeom prst="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309360" y="1371600"/>
            <a:ext cx="5486400" cy="36576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92240" y="1508760"/>
            <a:ext cx="5120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BBF24"/>
                </a:solidFill>
                <a:latin typeface="Calibri"/>
              </a:rPr>
              <a:t>⚠️  TTPIP tiene el mayor costo por alumno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92240" y="1993392"/>
            <a:ext cx="512064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CA3AF"/>
                </a:solidFill>
                <a:latin typeface="Calibri"/>
              </a:rPr>
              <a:t>El Taller de Técnicas y Procesos Innovadores en Pastelería tiene el CPA más alto ($1.106), seguido por TBD ($909) y TCCHO ($744). Estos talleres requieren insumos premium.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3749039"/>
            <a:ext cx="5486400" cy="2194560"/>
          </a:xfrm>
          <a:prstGeom prst="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57200" y="3749039"/>
            <a:ext cx="5486400" cy="36576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" y="3886200"/>
            <a:ext cx="5120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38BDF8"/>
                </a:solidFill>
                <a:latin typeface="Calibri"/>
              </a:rPr>
              <a:t>📊  Mayo es el mes con mayor gasto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4370831"/>
            <a:ext cx="512064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CA3AF"/>
                </a:solidFill>
                <a:latin typeface="Calibri"/>
              </a:rPr>
              <a:t>Con $1.178.684, mayo concentra el mayor gasto de materia prima. Julio registra el menor ($348.671), posiblemente por receso académico o menor número de sesiones.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309360" y="3749039"/>
            <a:ext cx="5486400" cy="2194560"/>
          </a:xfrm>
          <a:prstGeom prst="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309360" y="3749039"/>
            <a:ext cx="5486400" cy="36576"/>
          </a:xfrm>
          <a:prstGeom prst="rect">
            <a:avLst/>
          </a:prstGeom>
          <a:solidFill>
            <a:srgbClr val="9CA3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92240" y="3886200"/>
            <a:ext cx="5120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9CA3AF"/>
                </a:solidFill>
                <a:latin typeface="Calibri"/>
              </a:rPr>
              <a:t>🔧  5 talleres sin recetas cargadas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92240" y="4370831"/>
            <a:ext cx="512064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CA3AF"/>
                </a:solidFill>
                <a:latin typeface="Calibri"/>
              </a:rPr>
              <a:t>TMA, TAS, TIR, TMI y TEAC tienen $0 en gasto, lo que indica que sus recetas aún no han sido registradas en el sistema. Se recomienda completar la carga para una visión integral.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36576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BBF24"/>
                </a:solidFill>
                <a:latin typeface="Calibri"/>
              </a:rPr>
              <a:t>09 · PRÓXIMOS PASOS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858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Roadmap y mejoras planificadas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34440"/>
            <a:ext cx="5486400" cy="27432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463040"/>
            <a:ext cx="3566160" cy="4846320"/>
          </a:xfrm>
          <a:prstGeom prst="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1463040"/>
            <a:ext cx="3566160" cy="54864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60020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BBF24"/>
                </a:solidFill>
                <a:latin typeface="Calibri"/>
              </a:rPr>
              <a:t>CORTO PLAZO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2221991"/>
            <a:ext cx="109728" cy="109728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2103120"/>
            <a:ext cx="3017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Completar recetas de TMA, TAS, TIR, TMI y TEAC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" y="3090672"/>
            <a:ext cx="109728" cy="109728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8680" y="2971800"/>
            <a:ext cx="3017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Vincular sesiones con semanas del calendario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" y="3959351"/>
            <a:ext cx="109728" cy="109728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68680" y="3840479"/>
            <a:ext cx="3017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Actualizar precios de ingredientes para S2 2026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297680" y="1463040"/>
            <a:ext cx="3566160" cy="4846320"/>
          </a:xfrm>
          <a:prstGeom prst="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297680" y="1463040"/>
            <a:ext cx="3566160" cy="54864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480560" y="160020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38BDF8"/>
                </a:solidFill>
                <a:latin typeface="Calibri"/>
              </a:rPr>
              <a:t>MEDIANO PLAZO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480560" y="2221991"/>
            <a:ext cx="109728" cy="109728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709160" y="2103120"/>
            <a:ext cx="3017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Módulo de presupuesto vs. real por carrera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480560" y="3090672"/>
            <a:ext cx="109728" cy="109728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709160" y="2971800"/>
            <a:ext cx="3017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Integración con sistema de inventario físico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480560" y="3959351"/>
            <a:ext cx="109728" cy="109728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709160" y="3840479"/>
            <a:ext cx="3017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Exportación automática de informes mensuales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138160" y="1463040"/>
            <a:ext cx="3566160" cy="4846320"/>
          </a:xfrm>
          <a:prstGeom prst="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138160" y="1463040"/>
            <a:ext cx="3566160" cy="54864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321040" y="160020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2C55E"/>
                </a:solidFill>
                <a:latin typeface="Calibri"/>
              </a:rPr>
              <a:t>LARGO PLAZO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321040" y="2221991"/>
            <a:ext cx="109728" cy="109728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549640" y="2103120"/>
            <a:ext cx="3017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Extensión a otras sedes del Instituto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321040" y="3090672"/>
            <a:ext cx="109728" cy="109728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549640" y="2971800"/>
            <a:ext cx="3017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Dashboard comparativo multi-sede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321040" y="3959351"/>
            <a:ext cx="109728" cy="109728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549640" y="3840479"/>
            <a:ext cx="3017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API de integración con sistema administrativo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57200" y="6400800"/>
            <a:ext cx="11430000" cy="9144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57200" y="649224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CA3AF"/>
                </a:solidFill>
                <a:latin typeface="Calibri"/>
              </a:rPr>
              <a:t>Instituto Culinary · Sistema de Costos Gastronómicos · Sede Santiago 2026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144000" y="649224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FBBF24"/>
                </a:solidFill>
                <a:latin typeface="Calibri"/>
              </a:rPr>
              <a:t>culinary.pythonanywhere.com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